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df760731cf4c77" /><Relationship Type="http://schemas.openxmlformats.org/officeDocument/2006/relationships/extended-properties" Target="/docProps/app.xml" Id="R3196d137e70546b9" /><Relationship Type="http://schemas.openxmlformats.org/officeDocument/2006/relationships/officeDocument" Target="/ppt/presentation.xml" Id="R8a4634afcf6c4f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e99e5a0d2446e8"/>
  </p:sldMasterIdLst>
  <p:notesMasterIdLst>
    <p:notesMasterId xmlns:r="http://schemas.openxmlformats.org/officeDocument/2006/relationships" r:id="R0192f04b809b4671"/>
  </p:notesMasterIdLst>
  <p:sldIdLst>
    <p:sldId xmlns:r="http://schemas.openxmlformats.org/officeDocument/2006/relationships" id="256" r:id="R7d377be15c9d40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c7b43714ac4b1b" /><Relationship Type="http://schemas.openxmlformats.org/officeDocument/2006/relationships/slideMaster" Target="/ppt/slideMasters/slideMaster1.xml" Id="R94e99e5a0d2446e8" /><Relationship Type="http://schemas.openxmlformats.org/officeDocument/2006/relationships/notesMaster" Target="/ppt/notesMasters/notesMaster1.xml" Id="R0192f04b809b4671" /><Relationship Type="http://schemas.openxmlformats.org/officeDocument/2006/relationships/presProps" Target="/ppt/presProps.xml" Id="Rdf26a0518ecc4a58" /><Relationship Type="http://schemas.openxmlformats.org/officeDocument/2006/relationships/tableStyles" Target="/ppt/tableStyles.xml" Id="R6e410f972564415e" /><Relationship Type="http://schemas.openxmlformats.org/officeDocument/2006/relationships/slide" Target="/ppt/slides/slide1.xml" Id="R7d377be15c9d40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3ebc1409c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b5022f06824bb1" /><Relationship Type="http://schemas.openxmlformats.org/officeDocument/2006/relationships/notesMaster" Target="/ppt/notesMasters/notesMaster1.xml" Id="Rae2fe2f2f89f46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d78f4e59a943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ba7fd7bace46ed" /><Relationship Type="http://schemas.openxmlformats.org/officeDocument/2006/relationships/slideLayout" Target="/ppt/slideLayouts/slideLayout1.xml" Id="R2ff57d747df34d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57d747df34d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3a9f1b034907" /><Relationship Type="http://schemas.openxmlformats.org/officeDocument/2006/relationships/chart" Target="/ppt/slides/charts/chart1.xml" Id="Rf42dc5d8c094444d" /><Relationship Type="http://schemas.openxmlformats.org/officeDocument/2006/relationships/notesSlide" Target="/ppt/notesSlides/notesSlide1.xml" Id="R494318e80ad6465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Observed</c:v>
          </c:tx>
          <c:spPr>
            <a:ln xmlns:a="http://schemas.openxmlformats.org/drawingml/2006/main" w="28575">
              <a:solidFill>
                <a:srgbClr val="000000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5"/>
              <c:pt idx="0">
                <c:v>Today</c:v>
              </c:pt>
              <c:pt idx="1">
                <c:v>+3d</c:v>
              </c:pt>
              <c:pt idx="2">
                <c:v>+7d</c:v>
              </c:pt>
              <c:pt idx="3">
                <c:v>LPTB</c:v>
              </c:pt>
              <c:pt idx="4">
                <c:v>Deadline</c:v>
              </c:pt>
            </c:strLit>
          </c:cat>
          <c:val>
            <c:numLit>
              <c:formatCode>General</c:formatCode>
              <c:ptCount val="5"/>
              <c:pt idx="0">
                <c:v>108</c:v>
              </c:pt>
              <c:pt idx="1">
                <c:v>112</c:v>
              </c:pt>
              <c:pt idx="2">
                <c:v>116</c:v>
              </c:pt>
              <c:pt idx="3">
                <c:v>111</c:v>
              </c:pt>
              <c:pt idx="4">
                <c:v>118</c:v>
              </c:pt>
            </c:numLit>
          </c:val>
        </c:ser>
        <c:ser>
          <c:idx val="1"/>
          <c:order val="1"/>
          <c:tx>
            <c:v>Expected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5"/>
              <c:pt idx="0">
                <c:v>Today</c:v>
              </c:pt>
              <c:pt idx="1">
                <c:v>+3d</c:v>
              </c:pt>
              <c:pt idx="2">
                <c:v>+7d</c:v>
              </c:pt>
              <c:pt idx="3">
                <c:v>LPTB</c:v>
              </c:pt>
              <c:pt idx="4">
                <c:v>Deadline</c:v>
              </c:pt>
            </c:strLit>
          </c:cat>
          <c:val>
            <c:numLit>
              <c:formatCode>General</c:formatCode>
              <c:ptCount val="5"/>
              <c:pt idx="0">
                <c:v>108</c:v>
              </c:pt>
              <c:pt idx="1">
                <c:v>105</c:v>
              </c:pt>
              <c:pt idx="2">
                <c:v>102</c:v>
              </c:pt>
              <c:pt idx="3">
                <c:v>101</c:v>
              </c:pt>
              <c:pt idx="4">
                <c:v>101</c:v>
              </c:pt>
            </c:numLit>
          </c:val>
        </c:ser>
        <c:ser>
          <c:idx val="2"/>
          <c:order val="2"/>
          <c:tx>
            <c:v>Upper range</c:v>
          </c:tx>
          <c:spPr>
            <a:ln xmlns:a="http://schemas.openxmlformats.org/drawingml/2006/main" w="19050">
              <a:solidFill>
                <a:srgbClr val="D0EDFA"/>
              </a:solidFill>
              <a:prstDash val="solid"/>
            </a:ln>
          </c:spPr>
          <c:marker>
            <c:symbol val="circle"/>
            <c:size val="2"/>
          </c:marker>
          <c:cat>
            <c:strLit>
              <c:ptCount val="5"/>
              <c:pt idx="0">
                <c:v>Today</c:v>
              </c:pt>
              <c:pt idx="1">
                <c:v>+3d</c:v>
              </c:pt>
              <c:pt idx="2">
                <c:v>+7d</c:v>
              </c:pt>
              <c:pt idx="3">
                <c:v>LPTB</c:v>
              </c:pt>
              <c:pt idx="4">
                <c:v>Deadline</c:v>
              </c:pt>
            </c:strLit>
          </c:cat>
          <c:val>
            <c:numLit>
              <c:formatCode>General</c:formatCode>
              <c:ptCount val="5"/>
              <c:pt idx="0">
                <c:v>118</c:v>
              </c:pt>
              <c:pt idx="1">
                <c:v>115</c:v>
              </c:pt>
              <c:pt idx="2">
                <c:v>111</c:v>
              </c:pt>
              <c:pt idx="3">
                <c:v>110</c:v>
              </c:pt>
              <c:pt idx="4">
                <c:v>110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20"/>
          <c:min val="9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C56E152-793C-4A4D-84EA-455EF37D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Optimise the basket, not one price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969BDF-A327-4FB6-9260-AFC02552D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62025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Conformal Prediction evaluates price uncertainty; CP-SAT selects a budget-safe portfolio.</a:t>
            </a:r>
          </a:p>
        </p:txBody>
      </p:sp>
      <p:sp>
        <p:nvSpPr>
          <p:cNvPr id="3" name="price-label">
            <a:extLst xmlns:a="http://schemas.openxmlformats.org/drawingml/2006/main">
              <a:ext uri="{FF2B5EF4-FFF2-40B4-BE49-F238E27FC236}">
                <a16:creationId xmlns:a16="http://schemas.microsoft.com/office/drawing/2014/main" id="{C7C6DA72-7BC6-47A0-9943-80FB8047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 PRICE SIGNAL OVER TIME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95300" y="1733550"/>
          <a:ext xmlns:a="http://schemas.openxmlformats.org/drawingml/2006/main" cx="3476625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2dc5d8c094444d"/>
          </a:graphicData>
        </a:graphic>
      </p:graphicFrame>
      <p:sp>
        <p:nvSpPr>
          <p:cNvPr id="5" name="conformal-panel">
            <a:extLst xmlns:a="http://schemas.openxmlformats.org/drawingml/2006/main">
              <a:ext uri="{FF2B5EF4-FFF2-40B4-BE49-F238E27FC236}">
                <a16:creationId xmlns:a16="http://schemas.microsoft.com/office/drawing/2014/main" id="{BBD80D06-E2AA-4210-BE48-A4080751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00550"/>
            <a:ext cx="3476625" cy="981075"/>
          </a:xfrm>
          <a:prstGeom xmlns:a="http://schemas.openxmlformats.org/drawingml/2006/main" prst="roundRect">
            <a:avLst>
              <a:gd name="adj" fmla="val 1165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6" name="conformal-head">
            <a:extLst xmlns:a="http://schemas.openxmlformats.org/drawingml/2006/main">
              <a:ext uri="{FF2B5EF4-FFF2-40B4-BE49-F238E27FC236}">
                <a16:creationId xmlns:a16="http://schemas.microsoft.com/office/drawing/2014/main" id="{B88C028E-A6F3-4400-BAC5-CBA484A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Conformal Prediction</a:t>
            </a:r>
          </a:p>
        </p:txBody>
      </p:sp>
      <p:sp>
        <p:nvSpPr>
          <p:cNvPr id="7" name="conformal-formula">
            <a:extLst xmlns:a="http://schemas.openxmlformats.org/drawingml/2006/main">
              <a:ext uri="{FF2B5EF4-FFF2-40B4-BE49-F238E27FC236}">
                <a16:creationId xmlns:a16="http://schemas.microsoft.com/office/drawing/2014/main" id="{455A68A4-46D1-4E9A-9905-58AAA17B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86325"/>
            <a:ext cx="3067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I90 = expected price ± q90</a:t>
            </a:r>
          </a:p>
        </p:txBody>
      </p:sp>
      <p:sp>
        <p:nvSpPr>
          <p:cNvPr id="8" name="conformal-body">
            <a:extLst xmlns:a="http://schemas.openxmlformats.org/drawingml/2006/main">
              <a:ext uri="{FF2B5EF4-FFF2-40B4-BE49-F238E27FC236}">
                <a16:creationId xmlns:a16="http://schemas.microsoft.com/office/drawing/2014/main" id="{70C14178-EDCA-4784-A7E4-0027499D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3067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q90 = historical 90th-percentile forecast error</a:t>
            </a:r>
          </a:p>
        </p:txBody>
      </p:sp>
      <p:sp>
        <p:nvSpPr>
          <p:cNvPr id="9" name="time-gate">
            <a:extLst xmlns:a="http://schemas.openxmlformats.org/drawingml/2006/main">
              <a:ext uri="{FF2B5EF4-FFF2-40B4-BE49-F238E27FC236}">
                <a16:creationId xmlns:a16="http://schemas.microsoft.com/office/drawing/2014/main" id="{62F7EF82-218B-460A-8D8A-FE8B6805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62600"/>
            <a:ext cx="3476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WAIT only before LPTB — otherwise BUY NOW.</a:t>
            </a:r>
          </a:p>
        </p:txBody>
      </p:sp>
      <p:sp>
        <p:nvSpPr>
          <p:cNvPr id="10" name="chart-note">
            <a:extLst xmlns:a="http://schemas.openxmlformats.org/drawingml/2006/main">
              <a:ext uri="{FF2B5EF4-FFF2-40B4-BE49-F238E27FC236}">
                <a16:creationId xmlns:a16="http://schemas.microsoft.com/office/drawing/2014/main" id="{05343FD3-D38F-45EB-9332-B3DF9656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857875"/>
            <a:ext cx="3476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Illustrative signal — not live price data</a:t>
            </a:r>
          </a:p>
        </p:txBody>
      </p:sp>
      <p:sp>
        <p:nvSpPr>
          <p:cNvPr id="11" name="optimizer-panel">
            <a:extLst xmlns:a="http://schemas.openxmlformats.org/drawingml/2006/main">
              <a:ext uri="{FF2B5EF4-FFF2-40B4-BE49-F238E27FC236}">
                <a16:creationId xmlns:a16="http://schemas.microsoft.com/office/drawing/2014/main" id="{44FA9C80-C4DF-42B8-B9E3-7673F6B6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7296150" cy="4610100"/>
          </a:xfrm>
          <a:prstGeom xmlns:a="http://schemas.openxmlformats.org/drawingml/2006/main" prst="roundRect">
            <a:avLst>
              <a:gd name="adj" fmla="val 2479"/>
            </a:avLst>
          </a:prstGeom>
          <a:solidFill xmlns:a="http://schemas.openxmlformats.org/drawingml/2006/main">
            <a:srgbClr val="E8F5FB"/>
          </a:solidFill>
          <a:ln xmlns:a="http://schemas.openxmlformats.org/drawingml/2006/main" w="0">
            <a:solidFill>
              <a:srgbClr val="E8F5FB"/>
            </a:solidFill>
            <a:prstDash val="solid"/>
          </a:ln>
        </p:spPr>
      </p:sp>
      <p:sp>
        <p:nvSpPr>
          <p:cNvPr id="12" name="optimizer-accent">
            <a:extLst xmlns:a="http://schemas.openxmlformats.org/drawingml/2006/main">
              <a:ext uri="{FF2B5EF4-FFF2-40B4-BE49-F238E27FC236}">
                <a16:creationId xmlns:a16="http://schemas.microsoft.com/office/drawing/2014/main" id="{8F39DF1F-AA97-425E-B32A-55408C7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28750"/>
            <a:ext cx="76200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ptimizer-label">
            <a:extLst xmlns:a="http://schemas.openxmlformats.org/drawingml/2006/main">
              <a:ext uri="{FF2B5EF4-FFF2-40B4-BE49-F238E27FC236}">
                <a16:creationId xmlns:a16="http://schemas.microsoft.com/office/drawing/2014/main" id="{AA226EFB-67CB-43C3-93E7-1CE1FEDD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95450"/>
            <a:ext cx="628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2. PORTFOLIO OPTIMISATION · GOOGLE OR-TOOLS CP-SAT</a:t>
            </a:r>
          </a:p>
        </p:txBody>
      </p:sp>
      <p:sp>
        <p:nvSpPr>
          <p:cNvPr id="14" name="optimizer-headline">
            <a:extLst xmlns:a="http://schemas.openxmlformats.org/drawingml/2006/main">
              <a:ext uri="{FF2B5EF4-FFF2-40B4-BE49-F238E27FC236}">
                <a16:creationId xmlns:a16="http://schemas.microsoft.com/office/drawing/2014/main" id="{1E79038B-5509-4F9C-B1B8-65D14203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193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low price matters only if the whole basket still works.</a:t>
            </a:r>
          </a:p>
        </p:txBody>
      </p:sp>
      <p:sp>
        <p:nvSpPr>
          <p:cNvPr id="15" name="optimizer-rule-1">
            <a:extLst xmlns:a="http://schemas.openxmlformats.org/drawingml/2006/main">
              <a:ext uri="{FF2B5EF4-FFF2-40B4-BE49-F238E27FC236}">
                <a16:creationId xmlns:a16="http://schemas.microsoft.com/office/drawing/2014/main" id="{B5AC6109-8D37-43B8-8D23-1C2D2DC5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955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eeds-label">
            <a:extLst xmlns:a="http://schemas.openxmlformats.org/drawingml/2006/main">
              <a:ext uri="{FF2B5EF4-FFF2-40B4-BE49-F238E27FC236}">
                <a16:creationId xmlns:a16="http://schemas.microsoft.com/office/drawing/2014/main" id="{D08927F9-6A0F-43BC-8F81-A3FBFE78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765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MISSION NEEDS</a:t>
            </a:r>
          </a:p>
        </p:txBody>
      </p:sp>
      <p:sp>
        <p:nvSpPr>
          <p:cNvPr id="17" name="needs">
            <a:extLst xmlns:a="http://schemas.openxmlformats.org/drawingml/2006/main">
              <a:ext uri="{FF2B5EF4-FFF2-40B4-BE49-F238E27FC236}">
                <a16:creationId xmlns:a16="http://schemas.microsoft.com/office/drawing/2014/main" id="{4080436D-3EBE-40A9-A791-20D6C5EB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47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skis  ·  helmet  ·  jacket  ·  trousers</a:t>
            </a:r>
          </a:p>
        </p:txBody>
      </p:sp>
      <p:sp>
        <p:nvSpPr>
          <p:cNvPr id="18" name="arrow-1">
            <a:extLst xmlns:a="http://schemas.openxmlformats.org/drawingml/2006/main">
              <a:ext uri="{FF2B5EF4-FFF2-40B4-BE49-F238E27FC236}">
                <a16:creationId xmlns:a16="http://schemas.microsoft.com/office/drawing/2014/main" id="{D9641655-2476-40DB-9B40-6DF9F2DD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241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↓</a:t>
            </a:r>
          </a:p>
        </p:txBody>
      </p:sp>
      <p:sp>
        <p:nvSpPr>
          <p:cNvPr id="19" name="selection-formula">
            <a:extLst xmlns:a="http://schemas.openxmlformats.org/drawingml/2006/main">
              <a:ext uri="{FF2B5EF4-FFF2-40B4-BE49-F238E27FC236}">
                <a16:creationId xmlns:a16="http://schemas.microsoft.com/office/drawing/2014/main" id="{203B9583-A06A-47F8-9293-CA0BF89A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5755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xₐ ∈ {0, 1}</a:t>
            </a:r>
          </a:p>
        </p:txBody>
      </p:sp>
      <p:sp>
        <p:nvSpPr>
          <p:cNvPr id="20" name="selection-copy">
            <a:extLst xmlns:a="http://schemas.openxmlformats.org/drawingml/2006/main">
              <a:ext uri="{FF2B5EF4-FFF2-40B4-BE49-F238E27FC236}">
                <a16:creationId xmlns:a16="http://schemas.microsoft.com/office/drawing/2014/main" id="{D9DFF2E9-D5CB-4FA9-B020-CE04F01D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147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Select one eligible action for each required product.</a:t>
            </a:r>
          </a:p>
        </p:txBody>
      </p:sp>
      <p:sp>
        <p:nvSpPr>
          <p:cNvPr id="21" name="optimizer-rule-2">
            <a:extLst xmlns:a="http://schemas.openxmlformats.org/drawingml/2006/main">
              <a:ext uri="{FF2B5EF4-FFF2-40B4-BE49-F238E27FC236}">
                <a16:creationId xmlns:a16="http://schemas.microsoft.com/office/drawing/2014/main" id="{E0F61281-988A-493B-8F2B-772990BA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052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verage-formula">
            <a:extLst xmlns:a="http://schemas.openxmlformats.org/drawingml/2006/main">
              <a:ext uri="{FF2B5EF4-FFF2-40B4-BE49-F238E27FC236}">
                <a16:creationId xmlns:a16="http://schemas.microsoft.com/office/drawing/2014/main" id="{94EBFA03-B9DB-4181-BFDA-8B6D3D38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14775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59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Σ xₐ = 1</a:t>
            </a:r>
          </a:p>
        </p:txBody>
      </p:sp>
      <p:sp>
        <p:nvSpPr>
          <p:cNvPr id="23" name="coverage-copy">
            <a:extLst xmlns:a="http://schemas.openxmlformats.org/drawingml/2006/main">
              <a:ext uri="{FF2B5EF4-FFF2-40B4-BE49-F238E27FC236}">
                <a16:creationId xmlns:a16="http://schemas.microsoft.com/office/drawing/2014/main" id="{D902A436-E16A-4B43-B3C0-548B600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7192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 every mandatory need — no incomplete plan.</a:t>
            </a:r>
          </a:p>
        </p:txBody>
      </p:sp>
      <p:sp>
        <p:nvSpPr>
          <p:cNvPr id="24" name="optimizer-rule-3">
            <a:extLst xmlns:a="http://schemas.openxmlformats.org/drawingml/2006/main">
              <a:ext uri="{FF2B5EF4-FFF2-40B4-BE49-F238E27FC236}">
                <a16:creationId xmlns:a16="http://schemas.microsoft.com/office/drawing/2014/main" id="{CC8E2FD6-2846-4127-A26A-389FCE95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624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budget-formula">
            <a:extLst xmlns:a="http://schemas.openxmlformats.org/drawingml/2006/main">
              <a:ext uri="{FF2B5EF4-FFF2-40B4-BE49-F238E27FC236}">
                <a16:creationId xmlns:a16="http://schemas.microsoft.com/office/drawing/2014/main" id="{AC0B7970-93A5-4E7B-808C-1CF261F2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572000"/>
            <a:ext cx="314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Σ items + delivery ≤ budget</a:t>
            </a:r>
          </a:p>
        </p:txBody>
      </p:sp>
      <p:sp>
        <p:nvSpPr>
          <p:cNvPr id="26" name="budget-copy">
            <a:extLst xmlns:a="http://schemas.openxmlformats.org/drawingml/2006/main">
              <a:ext uri="{FF2B5EF4-FFF2-40B4-BE49-F238E27FC236}">
                <a16:creationId xmlns:a16="http://schemas.microsoft.com/office/drawing/2014/main" id="{19CD9422-02EF-4188-870C-4C3CA74A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291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Keep the full portfolio feasible within the planned spend.</a:t>
            </a:r>
          </a:p>
        </p:txBody>
      </p:sp>
      <p:sp>
        <p:nvSpPr>
          <p:cNvPr id="27" name="optimizer-rule-4">
            <a:extLst xmlns:a="http://schemas.openxmlformats.org/drawingml/2006/main">
              <a:ext uri="{FF2B5EF4-FFF2-40B4-BE49-F238E27FC236}">
                <a16:creationId xmlns:a16="http://schemas.microsoft.com/office/drawing/2014/main" id="{F787A9F8-C869-47B1-A6AF-AEC6F137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435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outcome-label">
            <a:extLst xmlns:a="http://schemas.openxmlformats.org/drawingml/2006/main">
              <a:ext uri="{FF2B5EF4-FFF2-40B4-BE49-F238E27FC236}">
                <a16:creationId xmlns:a16="http://schemas.microsoft.com/office/drawing/2014/main" id="{8EC4ACD9-F98E-4779-8AFE-CFF476C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34352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sp>
        <p:nvSpPr>
          <p:cNvPr id="29" name="outcome">
            <a:extLst xmlns:a="http://schemas.openxmlformats.org/drawingml/2006/main">
              <a:ext uri="{FF2B5EF4-FFF2-40B4-BE49-F238E27FC236}">
                <a16:creationId xmlns:a16="http://schemas.microsoft.com/office/drawing/2014/main" id="{0827D432-90CE-4BCF-89BF-CD6471F1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62927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feasible basket · one merchant · before the deadline</a:t>
            </a:r>
          </a:p>
        </p:txBody>
      </p:sp>
      <p:sp>
        <p:nvSpPr>
          <p:cNvPr id="30" name="bottom-takeaway">
            <a:extLst xmlns:a="http://schemas.openxmlformats.org/drawingml/2006/main">
              <a:ext uri="{FF2B5EF4-FFF2-40B4-BE49-F238E27FC236}">
                <a16:creationId xmlns:a16="http://schemas.microsoft.com/office/drawing/2014/main" id="{20E8BBBA-F49B-496C-BFDF-291C0C9D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96025"/>
            <a:ext cx="1081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Price intelligence tells us whether waiting may pay off. CP-SAT decides whether the complete purchase plan can afford to wait.</a:t>
            </a:r>
          </a:p>
        </p:txBody>
      </p:sp>
    </p:spTree>
    <p:extLst>
      <p:ext uri="{BB962C8B-B14F-4D97-AF65-F5344CB8AC3E}">
        <p14:creationId xmlns:p14="http://schemas.microsoft.com/office/powerpoint/2010/main" val="1375170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2026-07-11T16:42:14.0820000Z</dcterms:created>
  <dcterms:modified xsi:type="dcterms:W3CDTF">2026-07-11T16:42:14.0820000Z</dcterms:modified>
</coreProperties>
</file>